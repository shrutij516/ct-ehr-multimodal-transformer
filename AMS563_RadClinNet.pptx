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4F7A">
              <a:alpha val="60000"/>
            </a:srgbClr>
          </a:solidFill>
          <a:ln w="12700">
            <a:solidFill>
              <a:srgbClr val="0D4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560320"/>
            <a:ext cx="2560320" cy="2560320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AMS 563 · Medical Image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RadClinNet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of Chest CT and Clinical Variables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Survival Prediction in Non-Small Cell Lung Cancer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</a:rPr>
              <a:t>Presented to Prof. Chenyu You  ·  </a:t>
            </a:r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Stony Brook University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D4F7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044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Dataset: NSCLC-Radiogenomics (TCIA)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20440" y="38404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D4F7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904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Task: Binary Survival Classification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OBJECTIVES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74980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59436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Build a complete end-to-end pipeline that fuses raw CT DICOM images with EHR-derived clinical variables for NSCLC survival prediction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57984"/>
            <a:ext cx="59436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5798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4942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Compare three models (clinical-only, CT-only, and multimodal fusion) to understand each modality contribution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54096"/>
            <a:ext cx="8412480" cy="74980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54096"/>
            <a:ext cx="59436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5409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1455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Apply key medical image analysis techniques: transfer learning, data augmentation, class-weighted loss, and Grad-CAM interpretability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50208"/>
            <a:ext cx="59436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50208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04164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Honestly evaluate results and limitations, and propose directions for future improvement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Multimodal Survival Prediction?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891B2"/>
                </a:solidFill>
              </a:rPr>
              <a:t>85%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5-year mortality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for advanced NSCLC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2344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325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891B2"/>
                </a:solidFill>
              </a:rPr>
              <a:t>#1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154680" y="1993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Leading cause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cancer mortality worldwide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2344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325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891B2"/>
                </a:solidFill>
              </a:rPr>
              <a:t>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943600" y="1993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Modalities fused: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CT imaging + EHR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1874520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26080"/>
            <a:ext cx="64008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1752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3B5E"/>
                </a:solidFill>
              </a:rPr>
              <a:t>Clinical risk models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 today rely almost exclusively on tabular EHR features: lab values, demographics, cancer stage. CT scans are routinely collected but rarely integrated into risk scores.
</a:t>
            </a:r>
            <a:pPr indent="0" marL="0">
              <a:buNone/>
            </a:pPr>
            <a:r>
              <a:rPr lang="en-US" sz="1350" b="1" dirty="0">
                <a:solidFill>
                  <a:srgbClr val="0D3B5E"/>
                </a:solidFill>
              </a:rPr>
              <a:t>This project investigates: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  whether fusing CT imaging with structured clinical data yields stronger survival prediction in NSCLC compared to either modality alone.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NSCLC-Radiogenomics Dataset (TCIA)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5E"/>
                </a:solidFill>
              </a:rPr>
              <a:t>Dataset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112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labeled patients with survival status
</a:t>
            </a:r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48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patients with matched DICOM CT studies
</a:t>
            </a:r>
            <a:pPr indent="0" marL="0">
              <a:buNone/>
            </a:pPr>
            <a:r>
              <a:rPr lang="en-US" sz="1300" b="1" dirty="0">
                <a:solidFill>
                  <a:srgbClr val="0D3B5E"/>
                </a:solidFill>
              </a:rPr>
              <a:t>Target: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Survival Status (Dead = 1, Alive = 0)
</a:t>
            </a:r>
            <a:pPr indent="0" marL="0">
              <a:buNone/>
            </a:pPr>
            <a:r>
              <a:rPr lang="en-US" sz="1300" b="1" dirty="0">
                <a:solidFill>
                  <a:srgbClr val="0D3B5E"/>
                </a:solidFill>
              </a:rPr>
              <a:t>Tabular features include:
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Age, gender, smoking history, cancer stage,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histology type, EGFR mutation status,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recurrence status, and clinical lab values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E"/>
                </a:solidFill>
              </a:rPr>
              <a:t>Why NSCLC-Radiogenomics?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190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Only public dataset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 with both raw CT DICOMs and matched EHR-derived clinical labels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944368"/>
            <a:ext cx="4114800" cy="1764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035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E"/>
                </a:solidFill>
              </a:rPr>
              <a:t>Class Distribution  (n=112)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493008"/>
            <a:ext cx="1682496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49300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Alive  46 (41%)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4078224"/>
            <a:ext cx="2414016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078224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Dead  66 (59%)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⚠ Class imbalance → weighted loss used during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End-to-End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508760" cy="1188720"/>
          </a:xfrm>
          <a:prstGeom prst="rect">
            <a:avLst/>
          </a:prstGeom>
          <a:solidFill>
            <a:srgbClr val="0D4F7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8132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PyDICOM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HU conversion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Multi-frame support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21031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9112" y="1417320"/>
            <a:ext cx="1508760" cy="1188720"/>
          </a:xfrm>
          <a:prstGeom prst="rect">
            <a:avLst/>
          </a:prstGeom>
          <a:solidFill>
            <a:srgbClr val="0D4F7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48132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39112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HU windowing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Slice sampling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Bilinear resize → 96×96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47872" y="2011680"/>
            <a:ext cx="21031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1417320"/>
            <a:ext cx="1508760" cy="1188720"/>
          </a:xfrm>
          <a:prstGeom prst="rect">
            <a:avLst/>
          </a:prstGeom>
          <a:solidFill>
            <a:srgbClr val="0D4F7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48132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58184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One-hot encoding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Imputation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Standardization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66944" y="2011680"/>
            <a:ext cx="21031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77256" y="1417320"/>
            <a:ext cx="1508760" cy="1188720"/>
          </a:xfrm>
          <a:prstGeom prst="rect">
            <a:avLst/>
          </a:prstGeom>
          <a:solidFill>
            <a:srgbClr val="0D4F7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7256" y="148132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77256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3 architectures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Weighted loss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Weight decay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86016" y="2011680"/>
            <a:ext cx="21031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96328" y="1417320"/>
            <a:ext cx="1508760" cy="1188720"/>
          </a:xfrm>
          <a:prstGeom prst="rect">
            <a:avLst/>
          </a:prstGeom>
          <a:solidFill>
            <a:srgbClr val="0D4F7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148132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Explainability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96328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AUROC · AUPRC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Brier · Sens · Spec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Grad-CAM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8803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0D4F7A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Data Augmentation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Random horizontal flipping applied during training to increase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diversity and reduce overfitting on the small 36-patient train set.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0D4F7A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Transfer Learning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246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ImageNet-pretrained ResNet18 used as CT encoder. Pretrained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features compensate for small dataset, critical for only 36 patients.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MODELS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Architectures Compared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52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Clinical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5E"/>
                </a:solidFill>
              </a:rPr>
              <a:t>Tabular MLP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Input: EHR-derived clinical features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Architecture: 3-layer MLP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Dropout: 0.4 → 0.3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Output: survival probability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651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52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Imaging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737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5E"/>
                </a:solidFill>
              </a:rPr>
              <a:t>CT-Only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3B5E"/>
                </a:solidFill>
              </a:rPr>
              <a:t>(ResNet18)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Input: 8 axial CT slices @ 96×96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Encoder: pretrained ResNet18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Slice pooling: mean across slices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Output: survival probability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234440"/>
            <a:ext cx="2651760" cy="50292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2527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Multimodal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1737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5E"/>
                </a:solidFill>
              </a:rPr>
              <a:t>Fusion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3B5E"/>
                </a:solidFill>
              </a:rPr>
              <a:t>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CT encoder: ResNet18 (512-dim)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Tabular encoder: MLP (64-dim)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Fusion: concatenation → 576-dim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Shared classifier head → output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864608"/>
            <a:ext cx="8412480" cy="164592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7375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All models: Adam optimizer · weight_decay=1e-3 · BCEWithLogitsLoss with class weights · 6 epochs · lr=1e-3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Model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0644" y="1938528"/>
            <a:ext cx="0" cy="59436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280160"/>
            <a:ext cx="7132320" cy="10515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3533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E"/>
                </a:solidFill>
              </a:rPr>
              <a:t>Custom Lightweight CNN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8249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3-layer Conv2D encoder trained from scratch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CT-only AUROC: 0.722 | Fusion AUROC: 1.000 (overfitting)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Problem: too little data to learn features from scratch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1581912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5819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0644" y="3127248"/>
            <a:ext cx="0" cy="59436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468880"/>
            <a:ext cx="7132320" cy="10515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25420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E"/>
                </a:solidFill>
              </a:rPr>
              <a:t>Regularization Additions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87121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Added: Dropout 0.4, weight decay 1e-3, random flip augmentation, class-weighted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CT-only AUROC: 0.722 | Fusion AUROC: 1.000 (no improvement)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Problem: regularization alone cannot fix a fundamentally small dataset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2770632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7706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Insufficient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3657600"/>
            <a:ext cx="7132320" cy="10515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37307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E"/>
                </a:solidFill>
              </a:rPr>
              <a:t>Transfer Learning with ResNet18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05993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Replaced custom CNN with ImageNet-pretrained ResNet18 backbone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CT-only AUROC: 0.917 ↑ | Fusion AUROC: 0.861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Pretrained features compensate for limited training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86600" y="3959352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3959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Results 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Metrics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AUROC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AUPRC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Brier Score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Tabular MLP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</a:rPr>
                        <a:t>1.000*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</a:rPr>
                        <a:t>1.000*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0.034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CT-Only (ResNet18)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0.889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0.917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Fusion 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3B5E"/>
                          </a:solidFill>
                        </a:rPr>
                        <a:t>0.861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3B5E"/>
                          </a:solidFill>
                        </a:rPr>
                        <a:t>0.856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0.214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9136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* Tabular model achieves perfect test separation on n=12 test patients. Result is consistent with strong clinical predictors (stage, histology) but should be interpreted cautiously given the small test set.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E8F4FD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B5E"/>
                </a:solidFill>
              </a:rPr>
              <a:t>Key finding: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Transfer learning boosted CT-only AUROC from 0.722 → 0.889. Fusion model (0.861) reflects genuine multimodal combination rather than tabular dominance.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INTERPRETABILITY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" y="20116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Grad-CAM Visualization</a:t>
            </a:r>
            <a:endParaRPr lang="en-US" sz="2800" dirty="0"/>
          </a:p>
        </p:txBody>
      </p:sp>
      <p:pic>
        <p:nvPicPr>
          <p:cNvPr id="4" name="Image 0" descr="/home/claude/gradc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87782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4407408"/>
            <a:ext cx="8778240" cy="713232"/>
          </a:xfrm>
          <a:prstGeom prst="rect">
            <a:avLst/>
          </a:prstGeom>
          <a:solidFill>
            <a:srgbClr val="0D4F7A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45312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Observation: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Attention concentrates on background rather than lung tissue, a small-data artifact. With more training patients, ResNet18 would learn to focus on clinically relevant anatomy.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DISCUSSION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E"/>
                </a:solidFill>
              </a:rPr>
              <a:t>📊  Tabular dominance is expected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Clinical variables (stage, histology, age) are strong survival predictors. Perfect test separation on n=12 is plausible but must be interpreted cautiously. Larger test sets needed to confirm.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261872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61872"/>
            <a:ext cx="6400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53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E"/>
                </a:solidFill>
              </a:rPr>
              <a:t>🧠  Transfer learning is essential at this scale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647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 custom CNN trained from scratch on 36 patients cannot learn meaningful imaging features. ResNet18 pretrained on ImageNet provides a strong initialization that generalizes even with limited CT data.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90672"/>
            <a:ext cx="6400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82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E"/>
                </a:solidFill>
              </a:rPr>
              <a:t>🔗  Fusion is more conservative than tabular alone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Fusion AUROC (0.861) &lt; Tabular (1.000) on this test set, actually a healthier result. The CT branch now contributes genuine signal that modulates the overconfident tabular predictions.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090672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090672"/>
            <a:ext cx="6400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82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E"/>
                </a:solidFill>
              </a:rPr>
              <a:t>👁  Grad-CAM reveals attention on background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5935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Attention maps focus on image borders rather than lung tissue. This is a known small-data artifact and motivates future work using lung segmentation masks as spatial priors.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LIMITATIONS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977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39776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E"/>
                </a:solidFill>
              </a:rPr>
              <a:t>Small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112 total patients, only 12 in test set for CT experiments. Results not statistically stable.
</a:t>
            </a:r>
            <a:pPr indent="0" marL="0">
              <a:buNone/>
            </a:pPr>
            <a:r>
              <a:rPr lang="en-US" sz="1200" b="1" dirty="0">
                <a:solidFill>
                  <a:srgbClr val="0D3B5E"/>
                </a:solidFill>
              </a:rPr>
              <a:t>Tabular ceiling effect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Structured clinical variables are too strong on this dataset for imaging to demonstrate added value.
</a:t>
            </a:r>
            <a:pPr indent="0" marL="0">
              <a:buNone/>
            </a:pPr>
            <a:r>
              <a:rPr lang="en-US" sz="1200" b="1" dirty="0">
                <a:solidFill>
                  <a:srgbClr val="0D3B5E"/>
                </a:solidFill>
              </a:rPr>
              <a:t>Grad-CAM background attention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CT model does not focus on clinically relevant anatomy, needs spatial supervision.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062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261872"/>
            <a:ext cx="42062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6187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  Future 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47088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E"/>
                </a:solidFill>
              </a:rPr>
              <a:t>Scale to larger cohorts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TCGA-LUAD or NLST datasets for statistically stable evaluation and cross-validation.
</a:t>
            </a:r>
            <a:pPr indent="0" marL="0">
              <a:buNone/>
            </a:pPr>
            <a:r>
              <a:rPr lang="en-US" sz="1200" b="1" dirty="0">
                <a:solidFill>
                  <a:srgbClr val="0D3B5E"/>
                </a:solidFill>
              </a:rPr>
              <a:t>Cross-attention fusion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Replace concatenation with a Transformer cross-attention mechanism for dynamic modality weighting.
</a:t>
            </a:r>
            <a:pPr indent="0" marL="0">
              <a:buNone/>
            </a:pPr>
            <a:r>
              <a:rPr lang="en-US" sz="1200" b="1" dirty="0">
                <a:solidFill>
                  <a:srgbClr val="0D3B5E"/>
                </a:solidFill>
              </a:rPr>
              <a:t>3D volumetric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Explore 3D CNNs or ViT-based models to capture full volumetric CT context rather than 2D slices.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4F7A">
              <a:alpha val="60000"/>
            </a:srgbClr>
          </a:solidFill>
          <a:ln w="12700">
            <a:solidFill>
              <a:srgbClr val="0D4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</a:rPr>
              <a:t>Built a complete multimodal pipeline combining CT DICOM preprocessing with EHR-derived tabular features for NSCLC survival prediction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</a:rPr>
              <a:t>Demonstrated that transfer learning (ResNet18) is essential for CT-based learning at small dataset scale, improving AUROC from 0.722 → 0.889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260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</a:rPr>
              <a:t>Applied course techniques: data augmentation, class-weighted loss, transfer learning, and Grad-CAM interpretability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</a:rPr>
              <a:t>Honestly reported the limitations of small-scale multimodal learning and identified clear directions for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4F7A">
              <a:alpha val="60000"/>
            </a:srgbClr>
          </a:solidFill>
          <a:ln w="12700">
            <a:solidFill>
              <a:srgbClr val="0D4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06B6D4"/>
                </a:solidFill>
              </a:rPr>
              <a:t>Questions Welcome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F0"/>
                </a:solidFill>
              </a:rPr>
              <a:t>Shruti Jagdale  |  AMS 563  |  Stony Brook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RadClinNet</dc:title>
  <dc:subject>PptxGenJS Presentation</dc:subject>
  <dc:creator>PptxGenJS</dc:creator>
  <cp:lastModifiedBy>PptxGenJS</cp:lastModifiedBy>
  <cp:revision>1</cp:revision>
  <dcterms:created xsi:type="dcterms:W3CDTF">2026-04-30T04:15:39Z</dcterms:created>
  <dcterms:modified xsi:type="dcterms:W3CDTF">2026-04-30T04:15:39Z</dcterms:modified>
</cp:coreProperties>
</file>